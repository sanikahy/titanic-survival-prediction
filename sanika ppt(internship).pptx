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30" r:id="rId1"/>
  </p:sldMasterIdLst>
  <p:notesMasterIdLst>
    <p:notesMasterId r:id="rId18"/>
  </p:notesMasterIdLst>
  <p:sldIdLst>
    <p:sldId id="483" r:id="rId2"/>
    <p:sldId id="484" r:id="rId3"/>
    <p:sldId id="470" r:id="rId4"/>
    <p:sldId id="488" r:id="rId5"/>
    <p:sldId id="478" r:id="rId6"/>
    <p:sldId id="468" r:id="rId7"/>
    <p:sldId id="482" r:id="rId8"/>
    <p:sldId id="486" r:id="rId9"/>
    <p:sldId id="489" r:id="rId10"/>
    <p:sldId id="485" r:id="rId11"/>
    <p:sldId id="492" r:id="rId12"/>
    <p:sldId id="493" r:id="rId13"/>
    <p:sldId id="494" r:id="rId14"/>
    <p:sldId id="487" r:id="rId15"/>
    <p:sldId id="473" r:id="rId16"/>
    <p:sldId id="490" r:id="rId17"/>
  </p:sldIdLst>
  <p:sldSz cx="12192000" cy="6858000"/>
  <p:notesSz cx="6954838" cy="93091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1180"/>
    <a:srgbClr val="FF3300"/>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47" autoAdjust="0"/>
    <p:restoredTop sz="94434" autoAdjust="0"/>
  </p:normalViewPr>
  <p:slideViewPr>
    <p:cSldViewPr snapToGrid="0">
      <p:cViewPr varScale="1">
        <p:scale>
          <a:sx n="68" d="100"/>
          <a:sy n="68" d="100"/>
        </p:scale>
        <p:origin x="-776" y="-64"/>
      </p:cViewPr>
      <p:guideLst>
        <p:guide orient="horz" pos="2160"/>
        <p:guide pos="3840"/>
      </p:guideLst>
    </p:cSldViewPr>
  </p:slideViewPr>
  <p:notesTextViewPr>
    <p:cViewPr>
      <p:scale>
        <a:sx n="1" d="1"/>
        <a:sy n="1" d="1"/>
      </p:scale>
      <p:origin x="0" y="0"/>
    </p:cViewPr>
  </p:notesTextViewPr>
  <p:sorterViewPr>
    <p:cViewPr>
      <p:scale>
        <a:sx n="100" d="100"/>
        <a:sy n="100" d="100"/>
      </p:scale>
      <p:origin x="0" y="-2893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091A9256-F9C8-48F3-9246-288820D1979F}"/>
              </a:ext>
            </a:extLst>
          </p:cNvPr>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xmlns="" id="{1608C6F2-4266-4213-8BF4-8EA0CDC970FA}"/>
              </a:ext>
            </a:extLst>
          </p:cNvPr>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cs typeface="+mn-cs"/>
              </a:defRPr>
            </a:lvl1pPr>
          </a:lstStyle>
          <a:p>
            <a:pPr>
              <a:defRPr/>
            </a:pPr>
            <a:fld id="{5AA20220-E8D3-4BE8-9E9D-D5B982467646}" type="datetimeFigureOut">
              <a:rPr lang="en-US"/>
              <a:pPr>
                <a:defRPr/>
              </a:pPr>
              <a:t>8/19/2026</a:t>
            </a:fld>
            <a:endParaRPr lang="en-US"/>
          </a:p>
        </p:txBody>
      </p:sp>
      <p:sp>
        <p:nvSpPr>
          <p:cNvPr id="4" name="Slide Image Placeholder 3">
            <a:extLst>
              <a:ext uri="{FF2B5EF4-FFF2-40B4-BE49-F238E27FC236}">
                <a16:creationId xmlns:a16="http://schemas.microsoft.com/office/drawing/2014/main" xmlns="" id="{8B13A30F-9520-44F4-81B2-1BCC447DE50D}"/>
              </a:ext>
            </a:extLst>
          </p:cNvPr>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a:extLst>
              <a:ext uri="{FF2B5EF4-FFF2-40B4-BE49-F238E27FC236}">
                <a16:creationId xmlns:a16="http://schemas.microsoft.com/office/drawing/2014/main" xmlns="" id="{4266252B-3FF1-4DA9-A03B-C61619A4108A}"/>
              </a:ext>
            </a:extLst>
          </p:cNvPr>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xmlns="" id="{A77DEBF4-55D6-4B92-B2C6-9B4374F6BE7F}"/>
              </a:ext>
            </a:extLst>
          </p:cNvPr>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xmlns="" id="{7B8A1201-67BC-4B63-9687-0E19225243E2}"/>
              </a:ext>
            </a:extLst>
          </p:cNvPr>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a:lvl1pPr>
          </a:lstStyle>
          <a:p>
            <a:pPr>
              <a:defRPr/>
            </a:pPr>
            <a:fld id="{36A1ABE2-8A9C-4371-A477-2D85B6949ADB}" type="slidenum">
              <a:rPr lang="en-US" altLang="en-US"/>
              <a:pPr>
                <a:defRPr/>
              </a:pPr>
              <a:t>‹#›</a:t>
            </a:fld>
            <a:endParaRPr lang="en-US" altLang="en-US"/>
          </a:p>
        </p:txBody>
      </p:sp>
    </p:spTree>
    <p:extLst>
      <p:ext uri="{BB962C8B-B14F-4D97-AF65-F5344CB8AC3E}">
        <p14:creationId xmlns:p14="http://schemas.microsoft.com/office/powerpoint/2010/main" val="33071945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98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7341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0FB56918-D4B3-422F-BFF9-D10393CB1268}"/>
              </a:ext>
            </a:extLst>
          </p:cNvPr>
          <p:cNvSpPr>
            <a:spLocks noGrp="1"/>
          </p:cNvSpPr>
          <p:nvPr>
            <p:ph type="dt" sz="half" idx="10"/>
          </p:nvPr>
        </p:nvSpPr>
        <p:spPr/>
        <p:txBody>
          <a:bodyPr/>
          <a:lstStyle>
            <a:lvl1pPr>
              <a:defRPr/>
            </a:lvl1pPr>
          </a:lstStyle>
          <a:p>
            <a:pPr>
              <a:defRPr/>
            </a:pPr>
            <a:fld id="{EB984284-C742-4CDE-BCD1-55F1EACCE4BD}" type="datetime1">
              <a:rPr lang="en-US"/>
              <a:pPr>
                <a:defRPr/>
              </a:pPr>
              <a:t>8/19/2026</a:t>
            </a:fld>
            <a:endParaRPr lang="en-US"/>
          </a:p>
        </p:txBody>
      </p:sp>
      <p:sp>
        <p:nvSpPr>
          <p:cNvPr id="5" name="Footer Placeholder 4">
            <a:extLst>
              <a:ext uri="{FF2B5EF4-FFF2-40B4-BE49-F238E27FC236}">
                <a16:creationId xmlns:a16="http://schemas.microsoft.com/office/drawing/2014/main" xmlns="" id="{A082B6A4-3E11-4AFE-97A2-755EDA1DD9B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9A2D3FD1-471F-422B-AFB8-CC8FCE5DCE6C}"/>
              </a:ext>
            </a:extLst>
          </p:cNvPr>
          <p:cNvSpPr>
            <a:spLocks noGrp="1"/>
          </p:cNvSpPr>
          <p:nvPr>
            <p:ph type="sldNum" sz="quarter" idx="12"/>
          </p:nvPr>
        </p:nvSpPr>
        <p:spPr/>
        <p:txBody>
          <a:bodyPr/>
          <a:lstStyle>
            <a:lvl1pPr>
              <a:defRPr/>
            </a:lvl1pPr>
          </a:lstStyle>
          <a:p>
            <a:pPr>
              <a:defRPr/>
            </a:pPr>
            <a:fld id="{4FAC8F4A-8BCF-4389-A68F-ABDBB8A38460}" type="slidenum">
              <a:rPr lang="en-US" altLang="en-US"/>
              <a:pPr>
                <a:defRPr/>
              </a:pPr>
              <a:t>‹#›</a:t>
            </a:fld>
            <a:endParaRPr lang="en-US" altLang="en-US"/>
          </a:p>
        </p:txBody>
      </p:sp>
    </p:spTree>
    <p:extLst>
      <p:ext uri="{BB962C8B-B14F-4D97-AF65-F5344CB8AC3E}">
        <p14:creationId xmlns:p14="http://schemas.microsoft.com/office/powerpoint/2010/main" val="3918394844"/>
      </p:ext>
    </p:extLst>
  </p:cSld>
  <p:clrMapOvr>
    <a:masterClrMapping/>
  </p:clrMapOvr>
  <p:transition spd="slow">
    <p:blinds dir="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7CDB27E7-0E5F-45FD-B9BC-82F6ACE50540}"/>
              </a:ext>
            </a:extLst>
          </p:cNvPr>
          <p:cNvSpPr>
            <a:spLocks noGrp="1"/>
          </p:cNvSpPr>
          <p:nvPr>
            <p:ph type="dt" sz="half" idx="10"/>
          </p:nvPr>
        </p:nvSpPr>
        <p:spPr/>
        <p:txBody>
          <a:bodyPr/>
          <a:lstStyle>
            <a:lvl1pPr>
              <a:defRPr/>
            </a:lvl1pPr>
          </a:lstStyle>
          <a:p>
            <a:pPr>
              <a:defRPr/>
            </a:pPr>
            <a:fld id="{78400D6F-81A6-4CA0-8B3C-34372C62B661}" type="datetime1">
              <a:rPr lang="en-US"/>
              <a:pPr>
                <a:defRPr/>
              </a:pPr>
              <a:t>8/19/2026</a:t>
            </a:fld>
            <a:endParaRPr lang="en-US"/>
          </a:p>
        </p:txBody>
      </p:sp>
      <p:sp>
        <p:nvSpPr>
          <p:cNvPr id="5" name="Footer Placeholder 4">
            <a:extLst>
              <a:ext uri="{FF2B5EF4-FFF2-40B4-BE49-F238E27FC236}">
                <a16:creationId xmlns:a16="http://schemas.microsoft.com/office/drawing/2014/main" xmlns="" id="{B5E0F7A6-907E-418D-ABF6-CE0D106D25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0336D880-0EA6-4FCD-A723-C393235639F8}"/>
              </a:ext>
            </a:extLst>
          </p:cNvPr>
          <p:cNvSpPr>
            <a:spLocks noGrp="1"/>
          </p:cNvSpPr>
          <p:nvPr>
            <p:ph type="sldNum" sz="quarter" idx="12"/>
          </p:nvPr>
        </p:nvSpPr>
        <p:spPr/>
        <p:txBody>
          <a:bodyPr/>
          <a:lstStyle>
            <a:lvl1pPr>
              <a:defRPr/>
            </a:lvl1pPr>
          </a:lstStyle>
          <a:p>
            <a:pPr>
              <a:defRPr/>
            </a:pPr>
            <a:fld id="{815EC703-C051-410C-8BA1-62752E291E83}" type="slidenum">
              <a:rPr lang="en-US" altLang="en-US"/>
              <a:pPr>
                <a:defRPr/>
              </a:pPr>
              <a:t>‹#›</a:t>
            </a:fld>
            <a:endParaRPr lang="en-US" altLang="en-US"/>
          </a:p>
        </p:txBody>
      </p:sp>
    </p:spTree>
    <p:extLst>
      <p:ext uri="{BB962C8B-B14F-4D97-AF65-F5344CB8AC3E}">
        <p14:creationId xmlns:p14="http://schemas.microsoft.com/office/powerpoint/2010/main" val="3859887381"/>
      </p:ext>
    </p:extLst>
  </p:cSld>
  <p:clrMapOvr>
    <a:masterClrMapping/>
  </p:clrMapOvr>
  <p:transition spd="slow">
    <p:blinds dir="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7DDAA96-8682-4C88-9622-87E036243D1F}"/>
              </a:ext>
            </a:extLst>
          </p:cNvPr>
          <p:cNvSpPr>
            <a:spLocks noGrp="1"/>
          </p:cNvSpPr>
          <p:nvPr>
            <p:ph type="dt" sz="half" idx="10"/>
          </p:nvPr>
        </p:nvSpPr>
        <p:spPr/>
        <p:txBody>
          <a:bodyPr/>
          <a:lstStyle>
            <a:lvl1pPr>
              <a:defRPr/>
            </a:lvl1pPr>
          </a:lstStyle>
          <a:p>
            <a:pPr>
              <a:defRPr/>
            </a:pPr>
            <a:fld id="{B63234D9-D072-4920-821D-BED01FCB7247}" type="datetime1">
              <a:rPr lang="en-US"/>
              <a:pPr>
                <a:defRPr/>
              </a:pPr>
              <a:t>8/19/2026</a:t>
            </a:fld>
            <a:endParaRPr lang="en-US"/>
          </a:p>
        </p:txBody>
      </p:sp>
      <p:sp>
        <p:nvSpPr>
          <p:cNvPr id="5" name="Footer Placeholder 4">
            <a:extLst>
              <a:ext uri="{FF2B5EF4-FFF2-40B4-BE49-F238E27FC236}">
                <a16:creationId xmlns:a16="http://schemas.microsoft.com/office/drawing/2014/main" xmlns="" id="{F4C29450-6172-4A34-B37F-64FAD195B7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363A622E-84FA-417F-BD5A-BE81A4899820}"/>
              </a:ext>
            </a:extLst>
          </p:cNvPr>
          <p:cNvSpPr>
            <a:spLocks noGrp="1"/>
          </p:cNvSpPr>
          <p:nvPr>
            <p:ph type="sldNum" sz="quarter" idx="12"/>
          </p:nvPr>
        </p:nvSpPr>
        <p:spPr/>
        <p:txBody>
          <a:bodyPr/>
          <a:lstStyle>
            <a:lvl1pPr>
              <a:defRPr/>
            </a:lvl1pPr>
          </a:lstStyle>
          <a:p>
            <a:pPr>
              <a:defRPr/>
            </a:pPr>
            <a:fld id="{09A17B78-0E85-43B3-B804-1DD2F629C182}" type="slidenum">
              <a:rPr lang="en-US" altLang="en-US"/>
              <a:pPr>
                <a:defRPr/>
              </a:pPr>
              <a:t>‹#›</a:t>
            </a:fld>
            <a:endParaRPr lang="en-US" altLang="en-US"/>
          </a:p>
        </p:txBody>
      </p:sp>
    </p:spTree>
    <p:extLst>
      <p:ext uri="{BB962C8B-B14F-4D97-AF65-F5344CB8AC3E}">
        <p14:creationId xmlns:p14="http://schemas.microsoft.com/office/powerpoint/2010/main" val="3603603393"/>
      </p:ext>
    </p:extLst>
  </p:cSld>
  <p:clrMapOvr>
    <a:masterClrMapping/>
  </p:clrMapOvr>
  <p:transition spd="slow">
    <p:blinds dir="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xmlns="" id="{C0375BCC-EEE9-412B-A532-7314FE84B0C4}"/>
              </a:ext>
            </a:extLst>
          </p:cNvPr>
          <p:cNvSpPr>
            <a:spLocks noGrp="1"/>
          </p:cNvSpPr>
          <p:nvPr>
            <p:ph type="dt" sz="half" idx="10"/>
          </p:nvPr>
        </p:nvSpPr>
        <p:spPr/>
        <p:txBody>
          <a:bodyPr/>
          <a:lstStyle>
            <a:lvl1pPr>
              <a:defRPr/>
            </a:lvl1pPr>
          </a:lstStyle>
          <a:p>
            <a:pPr>
              <a:defRPr/>
            </a:pPr>
            <a:fld id="{74A9FD15-50EB-4E55-A7AC-5D569B5B3C80}" type="datetime1">
              <a:rPr lang="en-US"/>
              <a:pPr>
                <a:defRPr/>
              </a:pPr>
              <a:t>8/19/2026</a:t>
            </a:fld>
            <a:endParaRPr lang="en-US"/>
          </a:p>
        </p:txBody>
      </p:sp>
      <p:sp>
        <p:nvSpPr>
          <p:cNvPr id="6" name="Footer Placeholder 4">
            <a:extLst>
              <a:ext uri="{FF2B5EF4-FFF2-40B4-BE49-F238E27FC236}">
                <a16:creationId xmlns:a16="http://schemas.microsoft.com/office/drawing/2014/main" xmlns="" id="{1E5CB5DD-B599-4B4E-BFCE-CB9E35FBCE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C7CE3315-9445-4BB5-89D3-235E587ABF37}"/>
              </a:ext>
            </a:extLst>
          </p:cNvPr>
          <p:cNvSpPr>
            <a:spLocks noGrp="1"/>
          </p:cNvSpPr>
          <p:nvPr>
            <p:ph type="sldNum" sz="quarter" idx="12"/>
          </p:nvPr>
        </p:nvSpPr>
        <p:spPr/>
        <p:txBody>
          <a:bodyPr/>
          <a:lstStyle>
            <a:lvl1pPr>
              <a:defRPr/>
            </a:lvl1pPr>
          </a:lstStyle>
          <a:p>
            <a:pPr>
              <a:defRPr/>
            </a:pPr>
            <a:fld id="{010EC4D6-2A5D-45C1-86E3-8BE19A62D209}" type="slidenum">
              <a:rPr lang="en-US" altLang="en-US"/>
              <a:pPr>
                <a:defRPr/>
              </a:pPr>
              <a:t>‹#›</a:t>
            </a:fld>
            <a:endParaRPr lang="en-US" altLang="en-US"/>
          </a:p>
        </p:txBody>
      </p:sp>
    </p:spTree>
    <p:extLst>
      <p:ext uri="{BB962C8B-B14F-4D97-AF65-F5344CB8AC3E}">
        <p14:creationId xmlns:p14="http://schemas.microsoft.com/office/powerpoint/2010/main" val="2991645173"/>
      </p:ext>
    </p:extLst>
  </p:cSld>
  <p:clrMapOvr>
    <a:masterClrMapping/>
  </p:clrMapOvr>
  <p:transition spd="slow">
    <p:blinds dir="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xmlns="" id="{530AD5EF-C609-4119-B375-3771413B48DE}"/>
              </a:ext>
            </a:extLst>
          </p:cNvPr>
          <p:cNvSpPr>
            <a:spLocks noGrp="1"/>
          </p:cNvSpPr>
          <p:nvPr>
            <p:ph type="dt" sz="half" idx="10"/>
          </p:nvPr>
        </p:nvSpPr>
        <p:spPr/>
        <p:txBody>
          <a:bodyPr/>
          <a:lstStyle>
            <a:lvl1pPr>
              <a:defRPr/>
            </a:lvl1pPr>
          </a:lstStyle>
          <a:p>
            <a:pPr>
              <a:defRPr/>
            </a:pPr>
            <a:fld id="{7C50B61E-D197-4188-943F-30B5936FC2F9}" type="datetime1">
              <a:rPr lang="en-US"/>
              <a:pPr>
                <a:defRPr/>
              </a:pPr>
              <a:t>8/19/2026</a:t>
            </a:fld>
            <a:endParaRPr lang="en-US"/>
          </a:p>
        </p:txBody>
      </p:sp>
      <p:sp>
        <p:nvSpPr>
          <p:cNvPr id="8" name="Footer Placeholder 4">
            <a:extLst>
              <a:ext uri="{FF2B5EF4-FFF2-40B4-BE49-F238E27FC236}">
                <a16:creationId xmlns:a16="http://schemas.microsoft.com/office/drawing/2014/main" xmlns="" id="{88A9EBF0-B7B0-4583-92AB-A3431DE6283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xmlns="" id="{283BC57B-A7E4-4277-9D46-579496497245}"/>
              </a:ext>
            </a:extLst>
          </p:cNvPr>
          <p:cNvSpPr>
            <a:spLocks noGrp="1"/>
          </p:cNvSpPr>
          <p:nvPr>
            <p:ph type="sldNum" sz="quarter" idx="12"/>
          </p:nvPr>
        </p:nvSpPr>
        <p:spPr/>
        <p:txBody>
          <a:bodyPr/>
          <a:lstStyle>
            <a:lvl1pPr>
              <a:defRPr/>
            </a:lvl1pPr>
          </a:lstStyle>
          <a:p>
            <a:pPr>
              <a:defRPr/>
            </a:pPr>
            <a:fld id="{F7F6C894-F542-45DE-85A4-2725CE924991}" type="slidenum">
              <a:rPr lang="en-US" altLang="en-US"/>
              <a:pPr>
                <a:defRPr/>
              </a:pPr>
              <a:t>‹#›</a:t>
            </a:fld>
            <a:endParaRPr lang="en-US" altLang="en-US"/>
          </a:p>
        </p:txBody>
      </p:sp>
    </p:spTree>
    <p:extLst>
      <p:ext uri="{BB962C8B-B14F-4D97-AF65-F5344CB8AC3E}">
        <p14:creationId xmlns:p14="http://schemas.microsoft.com/office/powerpoint/2010/main" val="2670619855"/>
      </p:ext>
    </p:extLst>
  </p:cSld>
  <p:clrMapOvr>
    <a:masterClrMapping/>
  </p:clrMapOvr>
  <p:transition spd="slow">
    <p:blinds dir="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a:extLst>
              <a:ext uri="{FF2B5EF4-FFF2-40B4-BE49-F238E27FC236}">
                <a16:creationId xmlns:a16="http://schemas.microsoft.com/office/drawing/2014/main" xmlns="" id="{41D81C82-41E3-4C7D-816C-58F99A1702F2}"/>
              </a:ext>
            </a:extLst>
          </p:cNvPr>
          <p:cNvSpPr>
            <a:spLocks noGrp="1"/>
          </p:cNvSpPr>
          <p:nvPr>
            <p:ph type="dt" sz="half" idx="10"/>
          </p:nvPr>
        </p:nvSpPr>
        <p:spPr/>
        <p:txBody>
          <a:bodyPr/>
          <a:lstStyle>
            <a:lvl1pPr>
              <a:defRPr/>
            </a:lvl1pPr>
          </a:lstStyle>
          <a:p>
            <a:pPr>
              <a:defRPr/>
            </a:pPr>
            <a:fld id="{6BD41E7F-6671-4D2D-B6AD-20E102447CE3}" type="datetime1">
              <a:rPr lang="en-US"/>
              <a:pPr>
                <a:defRPr/>
              </a:pPr>
              <a:t>8/19/2026</a:t>
            </a:fld>
            <a:endParaRPr lang="en-US"/>
          </a:p>
        </p:txBody>
      </p:sp>
      <p:sp>
        <p:nvSpPr>
          <p:cNvPr id="4" name="Footer Placeholder 4">
            <a:extLst>
              <a:ext uri="{FF2B5EF4-FFF2-40B4-BE49-F238E27FC236}">
                <a16:creationId xmlns:a16="http://schemas.microsoft.com/office/drawing/2014/main" xmlns="" id="{21C23C57-193A-4FFE-AF84-5DDAD504531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xmlns="" id="{E00AA421-04F3-46DC-9A65-181848BF7FC6}"/>
              </a:ext>
            </a:extLst>
          </p:cNvPr>
          <p:cNvSpPr>
            <a:spLocks noGrp="1"/>
          </p:cNvSpPr>
          <p:nvPr>
            <p:ph type="sldNum" sz="quarter" idx="12"/>
          </p:nvPr>
        </p:nvSpPr>
        <p:spPr/>
        <p:txBody>
          <a:bodyPr/>
          <a:lstStyle>
            <a:lvl1pPr>
              <a:defRPr/>
            </a:lvl1pPr>
          </a:lstStyle>
          <a:p>
            <a:pPr>
              <a:defRPr/>
            </a:pPr>
            <a:fld id="{389318FD-4EEC-4C57-A972-0B24B85155E4}" type="slidenum">
              <a:rPr lang="en-US" altLang="en-US"/>
              <a:pPr>
                <a:defRPr/>
              </a:pPr>
              <a:t>‹#›</a:t>
            </a:fld>
            <a:endParaRPr lang="en-US" altLang="en-US"/>
          </a:p>
        </p:txBody>
      </p:sp>
    </p:spTree>
    <p:extLst>
      <p:ext uri="{BB962C8B-B14F-4D97-AF65-F5344CB8AC3E}">
        <p14:creationId xmlns:p14="http://schemas.microsoft.com/office/powerpoint/2010/main" val="1874775401"/>
      </p:ext>
    </p:extLst>
  </p:cSld>
  <p:clrMapOvr>
    <a:masterClrMapping/>
  </p:clrMapOvr>
  <p:transition spd="slow">
    <p:blinds dir="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3218A1C0-5E86-44FA-96CE-D0C3A0911C5A}"/>
              </a:ext>
            </a:extLst>
          </p:cNvPr>
          <p:cNvSpPr>
            <a:spLocks noGrp="1"/>
          </p:cNvSpPr>
          <p:nvPr>
            <p:ph type="dt" sz="half" idx="10"/>
          </p:nvPr>
        </p:nvSpPr>
        <p:spPr/>
        <p:txBody>
          <a:bodyPr/>
          <a:lstStyle>
            <a:lvl1pPr>
              <a:defRPr/>
            </a:lvl1pPr>
          </a:lstStyle>
          <a:p>
            <a:pPr>
              <a:defRPr/>
            </a:pPr>
            <a:fld id="{FAE11748-68B0-424D-A128-8EE4A2F1567E}" type="datetime1">
              <a:rPr lang="en-US"/>
              <a:pPr>
                <a:defRPr/>
              </a:pPr>
              <a:t>8/19/2026</a:t>
            </a:fld>
            <a:endParaRPr lang="en-US"/>
          </a:p>
        </p:txBody>
      </p:sp>
      <p:sp>
        <p:nvSpPr>
          <p:cNvPr id="3" name="Footer Placeholder 4">
            <a:extLst>
              <a:ext uri="{FF2B5EF4-FFF2-40B4-BE49-F238E27FC236}">
                <a16:creationId xmlns:a16="http://schemas.microsoft.com/office/drawing/2014/main" xmlns="" id="{DC30598B-A85E-40F2-B0F9-CC04D8E3F3E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xmlns="" id="{620ADC7C-B221-49C5-9757-EBEBB0F9207F}"/>
              </a:ext>
            </a:extLst>
          </p:cNvPr>
          <p:cNvSpPr>
            <a:spLocks noGrp="1"/>
          </p:cNvSpPr>
          <p:nvPr>
            <p:ph type="sldNum" sz="quarter" idx="12"/>
          </p:nvPr>
        </p:nvSpPr>
        <p:spPr/>
        <p:txBody>
          <a:bodyPr/>
          <a:lstStyle>
            <a:lvl1pPr>
              <a:defRPr/>
            </a:lvl1pPr>
          </a:lstStyle>
          <a:p>
            <a:pPr>
              <a:defRPr/>
            </a:pPr>
            <a:fld id="{2F195F4C-44D2-4F45-A0AC-21646A9D27BF}" type="slidenum">
              <a:rPr lang="en-US" altLang="en-US"/>
              <a:pPr>
                <a:defRPr/>
              </a:pPr>
              <a:t>‹#›</a:t>
            </a:fld>
            <a:endParaRPr lang="en-US" altLang="en-US"/>
          </a:p>
        </p:txBody>
      </p:sp>
    </p:spTree>
    <p:extLst>
      <p:ext uri="{BB962C8B-B14F-4D97-AF65-F5344CB8AC3E}">
        <p14:creationId xmlns:p14="http://schemas.microsoft.com/office/powerpoint/2010/main" val="3579266658"/>
      </p:ext>
    </p:extLst>
  </p:cSld>
  <p:clrMapOvr>
    <a:masterClrMapping/>
  </p:clrMapOvr>
  <p:transition spd="slow">
    <p:blinds dir="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xmlns="" id="{D79DD4CF-015F-4F62-A63C-9D088FAC4792}"/>
              </a:ext>
            </a:extLst>
          </p:cNvPr>
          <p:cNvSpPr>
            <a:spLocks noGrp="1"/>
          </p:cNvSpPr>
          <p:nvPr>
            <p:ph type="dt" sz="half" idx="10"/>
          </p:nvPr>
        </p:nvSpPr>
        <p:spPr/>
        <p:txBody>
          <a:bodyPr/>
          <a:lstStyle>
            <a:lvl1pPr>
              <a:defRPr/>
            </a:lvl1pPr>
          </a:lstStyle>
          <a:p>
            <a:pPr>
              <a:defRPr/>
            </a:pPr>
            <a:fld id="{7094E8B7-7DCF-4AE2-ACBE-26DA6EBB7347}" type="datetime1">
              <a:rPr lang="en-US"/>
              <a:pPr>
                <a:defRPr/>
              </a:pPr>
              <a:t>8/19/2026</a:t>
            </a:fld>
            <a:endParaRPr lang="en-US"/>
          </a:p>
        </p:txBody>
      </p:sp>
      <p:sp>
        <p:nvSpPr>
          <p:cNvPr id="6" name="Footer Placeholder 4">
            <a:extLst>
              <a:ext uri="{FF2B5EF4-FFF2-40B4-BE49-F238E27FC236}">
                <a16:creationId xmlns:a16="http://schemas.microsoft.com/office/drawing/2014/main" xmlns="" id="{9F56518C-25E4-4791-80CF-9603927DE7B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646B593C-043B-40F1-98DA-B1906E58EBEB}"/>
              </a:ext>
            </a:extLst>
          </p:cNvPr>
          <p:cNvSpPr>
            <a:spLocks noGrp="1"/>
          </p:cNvSpPr>
          <p:nvPr>
            <p:ph type="sldNum" sz="quarter" idx="12"/>
          </p:nvPr>
        </p:nvSpPr>
        <p:spPr/>
        <p:txBody>
          <a:bodyPr/>
          <a:lstStyle>
            <a:lvl1pPr>
              <a:defRPr/>
            </a:lvl1pPr>
          </a:lstStyle>
          <a:p>
            <a:pPr>
              <a:defRPr/>
            </a:pPr>
            <a:fld id="{7CD429D7-E526-4101-969E-B40B8D8E48CC}" type="slidenum">
              <a:rPr lang="en-US" altLang="en-US"/>
              <a:pPr>
                <a:defRPr/>
              </a:pPr>
              <a:t>‹#›</a:t>
            </a:fld>
            <a:endParaRPr lang="en-US" altLang="en-US"/>
          </a:p>
        </p:txBody>
      </p:sp>
    </p:spTree>
    <p:extLst>
      <p:ext uri="{BB962C8B-B14F-4D97-AF65-F5344CB8AC3E}">
        <p14:creationId xmlns:p14="http://schemas.microsoft.com/office/powerpoint/2010/main" val="3478220043"/>
      </p:ext>
    </p:extLst>
  </p:cSld>
  <p:clrMapOvr>
    <a:masterClrMapping/>
  </p:clrMapOvr>
  <p:transition spd="slow">
    <p:blinds dir="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xmlns="" id="{AB5A9D87-E05A-4D16-A703-1E97A8BA2C34}"/>
              </a:ext>
            </a:extLst>
          </p:cNvPr>
          <p:cNvSpPr>
            <a:spLocks noGrp="1"/>
          </p:cNvSpPr>
          <p:nvPr>
            <p:ph type="dt" sz="half" idx="10"/>
          </p:nvPr>
        </p:nvSpPr>
        <p:spPr/>
        <p:txBody>
          <a:bodyPr/>
          <a:lstStyle>
            <a:lvl1pPr>
              <a:defRPr/>
            </a:lvl1pPr>
          </a:lstStyle>
          <a:p>
            <a:pPr>
              <a:defRPr/>
            </a:pPr>
            <a:fld id="{A58AEAC7-C2C3-44AF-AB2E-36A1774D5378}" type="datetime1">
              <a:rPr lang="en-US"/>
              <a:pPr>
                <a:defRPr/>
              </a:pPr>
              <a:t>8/19/2026</a:t>
            </a:fld>
            <a:endParaRPr lang="en-US"/>
          </a:p>
        </p:txBody>
      </p:sp>
      <p:sp>
        <p:nvSpPr>
          <p:cNvPr id="6" name="Footer Placeholder 4">
            <a:extLst>
              <a:ext uri="{FF2B5EF4-FFF2-40B4-BE49-F238E27FC236}">
                <a16:creationId xmlns:a16="http://schemas.microsoft.com/office/drawing/2014/main" xmlns="" id="{50E92F1C-94F6-478A-96CC-20CEB3BF821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51659F05-47D4-46F4-A7AC-A02AE18D3546}"/>
              </a:ext>
            </a:extLst>
          </p:cNvPr>
          <p:cNvSpPr>
            <a:spLocks noGrp="1"/>
          </p:cNvSpPr>
          <p:nvPr>
            <p:ph type="sldNum" sz="quarter" idx="12"/>
          </p:nvPr>
        </p:nvSpPr>
        <p:spPr/>
        <p:txBody>
          <a:bodyPr/>
          <a:lstStyle>
            <a:lvl1pPr>
              <a:defRPr/>
            </a:lvl1pPr>
          </a:lstStyle>
          <a:p>
            <a:pPr>
              <a:defRPr/>
            </a:pPr>
            <a:fld id="{D66FD7F1-16F9-4E12-83AD-C4245146BA57}" type="slidenum">
              <a:rPr lang="en-US" altLang="en-US"/>
              <a:pPr>
                <a:defRPr/>
              </a:pPr>
              <a:t>‹#›</a:t>
            </a:fld>
            <a:endParaRPr lang="en-US" altLang="en-US"/>
          </a:p>
        </p:txBody>
      </p:sp>
    </p:spTree>
    <p:extLst>
      <p:ext uri="{BB962C8B-B14F-4D97-AF65-F5344CB8AC3E}">
        <p14:creationId xmlns:p14="http://schemas.microsoft.com/office/powerpoint/2010/main" val="1999370667"/>
      </p:ext>
    </p:extLst>
  </p:cSld>
  <p:clrMapOvr>
    <a:masterClrMapping/>
  </p:clrMapOvr>
  <p:transition spd="slow">
    <p:blinds dir="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0A0AAE25-87DE-4998-B6CE-F47978987C8B}"/>
              </a:ext>
            </a:extLst>
          </p:cNvPr>
          <p:cNvSpPr>
            <a:spLocks noGrp="1"/>
          </p:cNvSpPr>
          <p:nvPr>
            <p:ph type="dt" sz="half" idx="10"/>
          </p:nvPr>
        </p:nvSpPr>
        <p:spPr/>
        <p:txBody>
          <a:bodyPr/>
          <a:lstStyle>
            <a:lvl1pPr>
              <a:defRPr/>
            </a:lvl1pPr>
          </a:lstStyle>
          <a:p>
            <a:pPr>
              <a:defRPr/>
            </a:pPr>
            <a:fld id="{E702336F-006F-49C3-8FF0-2416E12056BA}" type="datetime1">
              <a:rPr lang="en-US"/>
              <a:pPr>
                <a:defRPr/>
              </a:pPr>
              <a:t>8/19/2026</a:t>
            </a:fld>
            <a:endParaRPr lang="en-US"/>
          </a:p>
        </p:txBody>
      </p:sp>
      <p:sp>
        <p:nvSpPr>
          <p:cNvPr id="5" name="Footer Placeholder 4">
            <a:extLst>
              <a:ext uri="{FF2B5EF4-FFF2-40B4-BE49-F238E27FC236}">
                <a16:creationId xmlns:a16="http://schemas.microsoft.com/office/drawing/2014/main" xmlns="" id="{B0A9861B-6D3E-4215-A3D0-377EC12DA5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DEC5A02C-FFC9-401E-8BCD-D06F65B1664C}"/>
              </a:ext>
            </a:extLst>
          </p:cNvPr>
          <p:cNvSpPr>
            <a:spLocks noGrp="1"/>
          </p:cNvSpPr>
          <p:nvPr>
            <p:ph type="sldNum" sz="quarter" idx="12"/>
          </p:nvPr>
        </p:nvSpPr>
        <p:spPr/>
        <p:txBody>
          <a:bodyPr/>
          <a:lstStyle>
            <a:lvl1pPr>
              <a:defRPr/>
            </a:lvl1pPr>
          </a:lstStyle>
          <a:p>
            <a:pPr>
              <a:defRPr/>
            </a:pPr>
            <a:fld id="{F3CA2AFE-CAB8-4467-80DC-C3A4FC1E2718}" type="slidenum">
              <a:rPr lang="en-US" altLang="en-US"/>
              <a:pPr>
                <a:defRPr/>
              </a:pPr>
              <a:t>‹#›</a:t>
            </a:fld>
            <a:endParaRPr lang="en-US" altLang="en-US"/>
          </a:p>
        </p:txBody>
      </p:sp>
    </p:spTree>
    <p:extLst>
      <p:ext uri="{BB962C8B-B14F-4D97-AF65-F5344CB8AC3E}">
        <p14:creationId xmlns:p14="http://schemas.microsoft.com/office/powerpoint/2010/main" val="766143411"/>
      </p:ext>
    </p:extLst>
  </p:cSld>
  <p:clrMapOvr>
    <a:masterClrMapping/>
  </p:clrMapOvr>
  <p:transition spd="slow">
    <p:blinds dir="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164B4638-3310-4031-B55D-BE295B1A7BDC}"/>
              </a:ext>
            </a:extLst>
          </p:cNvPr>
          <p:cNvSpPr>
            <a:spLocks noGrp="1"/>
          </p:cNvSpPr>
          <p:nvPr>
            <p:ph type="dt" sz="half" idx="10"/>
          </p:nvPr>
        </p:nvSpPr>
        <p:spPr/>
        <p:txBody>
          <a:bodyPr/>
          <a:lstStyle>
            <a:lvl1pPr>
              <a:defRPr/>
            </a:lvl1pPr>
          </a:lstStyle>
          <a:p>
            <a:pPr>
              <a:defRPr/>
            </a:pPr>
            <a:fld id="{8C683BFA-96BB-4329-BF2F-32F59AFA4E79}" type="datetime1">
              <a:rPr lang="en-US"/>
              <a:pPr>
                <a:defRPr/>
              </a:pPr>
              <a:t>8/19/2026</a:t>
            </a:fld>
            <a:endParaRPr lang="en-US"/>
          </a:p>
        </p:txBody>
      </p:sp>
      <p:sp>
        <p:nvSpPr>
          <p:cNvPr id="5" name="Footer Placeholder 4">
            <a:extLst>
              <a:ext uri="{FF2B5EF4-FFF2-40B4-BE49-F238E27FC236}">
                <a16:creationId xmlns:a16="http://schemas.microsoft.com/office/drawing/2014/main" xmlns="" id="{9BF7728E-C01A-4686-AD71-F7B61E8209D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07C71C28-1E00-4F0A-8B9D-A0E460685EFB}"/>
              </a:ext>
            </a:extLst>
          </p:cNvPr>
          <p:cNvSpPr>
            <a:spLocks noGrp="1"/>
          </p:cNvSpPr>
          <p:nvPr>
            <p:ph type="sldNum" sz="quarter" idx="12"/>
          </p:nvPr>
        </p:nvSpPr>
        <p:spPr/>
        <p:txBody>
          <a:bodyPr/>
          <a:lstStyle>
            <a:lvl1pPr>
              <a:defRPr/>
            </a:lvl1pPr>
          </a:lstStyle>
          <a:p>
            <a:pPr>
              <a:defRPr/>
            </a:pPr>
            <a:fld id="{3DDD8426-6957-4B5B-B927-2BE994D1B7C1}" type="slidenum">
              <a:rPr lang="en-US" altLang="en-US"/>
              <a:pPr>
                <a:defRPr/>
              </a:pPr>
              <a:t>‹#›</a:t>
            </a:fld>
            <a:endParaRPr lang="en-US" altLang="en-US"/>
          </a:p>
        </p:txBody>
      </p:sp>
    </p:spTree>
    <p:extLst>
      <p:ext uri="{BB962C8B-B14F-4D97-AF65-F5344CB8AC3E}">
        <p14:creationId xmlns:p14="http://schemas.microsoft.com/office/powerpoint/2010/main" val="289399607"/>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xmlns="" id="{D9A3E1B4-65C6-415A-9681-D05B402B0E8D}"/>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xmlns="" id="{0C566853-DAEB-4CB7-818F-723C37230FEE}"/>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xmlns="" id="{A04BD739-9829-4F69-BC53-75013DDD1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46687D5-4D00-474F-82B8-FCFBD98170F5}" type="datetime1">
              <a:rPr lang="en-US"/>
              <a:pPr>
                <a:defRPr/>
              </a:pPr>
              <a:t>8/19/2026</a:t>
            </a:fld>
            <a:endParaRPr lang="en-US"/>
          </a:p>
        </p:txBody>
      </p:sp>
      <p:sp>
        <p:nvSpPr>
          <p:cNvPr id="5" name="Footer Placeholder 4">
            <a:extLst>
              <a:ext uri="{FF2B5EF4-FFF2-40B4-BE49-F238E27FC236}">
                <a16:creationId xmlns:a16="http://schemas.microsoft.com/office/drawing/2014/main" xmlns="" id="{505F0A4C-9308-45AA-A1AA-7B038DC01F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xmlns="" id="{142AE0DB-89DF-4A35-9269-9E85DEA2E36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DBF7CE3-29D9-4203-A481-45960E76618F}" type="slidenum">
              <a:rPr lang="en-US" altLang="en-US"/>
              <a:pPr>
                <a:defRPr/>
              </a:pPr>
              <a:t>‹#›</a:t>
            </a:fld>
            <a:endParaRPr lang="en-US" altLang="en-US"/>
          </a:p>
        </p:txBody>
      </p:sp>
      <p:pic>
        <p:nvPicPr>
          <p:cNvPr id="1031" name="Picture 7">
            <a:extLst>
              <a:ext uri="{FF2B5EF4-FFF2-40B4-BE49-F238E27FC236}">
                <a16:creationId xmlns:a16="http://schemas.microsoft.com/office/drawing/2014/main" xmlns="" id="{102663E2-6C69-49E4-9FEB-A0ED3DD955FD}"/>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Lst>
  <p:transition spd="slow">
    <p:blinds dir="vert"/>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a:t>
            </a:r>
            <a:r>
              <a:rPr lang="en-GB" sz="2000" b="1" i="0" u="none" strike="noStrike" cap="none" dirty="0">
                <a:solidFill>
                  <a:schemeClr val="accent2"/>
                </a:solidFill>
                <a:latin typeface="Cambria" panose="02040503050406030204" pitchFamily="18" charset="0"/>
                <a:ea typeface="Cambria" panose="02040503050406030204" pitchFamily="18" charset="0"/>
                <a:cs typeface="Verdana"/>
                <a:sym typeface="Verdana"/>
              </a:rPr>
              <a:t>Supervision</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err="1" smtClean="0">
                <a:solidFill>
                  <a:srgbClr val="17365D"/>
                </a:solidFill>
                <a:latin typeface="Cambria" panose="02040503050406030204" pitchFamily="18" charset="0"/>
                <a:ea typeface="Cambria" panose="02040503050406030204" pitchFamily="18" charset="0"/>
                <a:cs typeface="Verdana"/>
                <a:sym typeface="Verdana"/>
              </a:rPr>
              <a:t>Mr.</a:t>
            </a:r>
            <a:r>
              <a:rPr lang="en-GB" sz="1700" b="1" dirty="0" smtClean="0">
                <a:solidFill>
                  <a:srgbClr val="17365D"/>
                </a:solidFill>
                <a:latin typeface="Cambria" panose="02040503050406030204" pitchFamily="18" charset="0"/>
                <a:ea typeface="Cambria" panose="02040503050406030204" pitchFamily="18" charset="0"/>
                <a:cs typeface="Verdana"/>
                <a:sym typeface="Verdana"/>
              </a:rPr>
              <a:t> </a:t>
            </a:r>
            <a:r>
              <a:rPr lang="en-GB" sz="1700" b="1" dirty="0" err="1" smtClean="0">
                <a:solidFill>
                  <a:srgbClr val="17365D"/>
                </a:solidFill>
                <a:latin typeface="Cambria" panose="02040503050406030204" pitchFamily="18" charset="0"/>
                <a:ea typeface="Cambria" panose="02040503050406030204" pitchFamily="18" charset="0"/>
                <a:cs typeface="Verdana"/>
                <a:sym typeface="Verdana"/>
              </a:rPr>
              <a:t>Sakthi</a:t>
            </a:r>
            <a:r>
              <a:rPr lang="en-GB" sz="1700" b="1" dirty="0" smtClean="0">
                <a:solidFill>
                  <a:srgbClr val="17365D"/>
                </a:solidFill>
                <a:latin typeface="Cambria" panose="02040503050406030204" pitchFamily="18" charset="0"/>
                <a:ea typeface="Cambria" panose="02040503050406030204" pitchFamily="18" charset="0"/>
                <a:cs typeface="Verdana"/>
                <a:sym typeface="Verdana"/>
              </a:rPr>
              <a:t> S</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smtClean="0">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86072" y="4088074"/>
            <a:ext cx="12009870"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Computer Science and Engineering</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Dr.Asif</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Mohammed H.B</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err="1" smtClean="0">
                <a:solidFill>
                  <a:schemeClr val="accent1"/>
                </a:solidFill>
                <a:latin typeface="Cambria" panose="02040503050406030204" pitchFamily="18" charset="0"/>
                <a:ea typeface="Cambria" panose="02040503050406030204" pitchFamily="18" charset="0"/>
                <a:cs typeface="Verdana"/>
                <a:sym typeface="Verdana"/>
              </a:rPr>
              <a:t>Dr.Balakrishnan</a:t>
            </a:r>
            <a:r>
              <a:rPr lang="en-US" sz="2000" b="1" i="0" u="none" strike="noStrike" cap="none" dirty="0" smtClean="0">
                <a:solidFill>
                  <a:schemeClr val="accent1"/>
                </a:solidFill>
                <a:latin typeface="Cambria" panose="02040503050406030204" pitchFamily="18" charset="0"/>
                <a:ea typeface="Cambria" panose="02040503050406030204" pitchFamily="18" charset="0"/>
                <a:cs typeface="Verdana"/>
                <a:sym typeface="Verdana"/>
              </a:rPr>
              <a:t> </a:t>
            </a:r>
            <a:r>
              <a:rPr lang="en-US" sz="2000" b="1" i="0" u="none" strike="noStrike" cap="none" dirty="0" err="1" smtClean="0">
                <a:solidFill>
                  <a:schemeClr val="accent1"/>
                </a:solidFill>
                <a:latin typeface="Cambria" panose="02040503050406030204" pitchFamily="18" charset="0"/>
                <a:ea typeface="Cambria" panose="02040503050406030204" pitchFamily="18" charset="0"/>
                <a:cs typeface="Verdana"/>
                <a:sym typeface="Verdana"/>
              </a:rPr>
              <a:t>Raju</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Coordinators: </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Dr.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Bhuvaneshwari</a:t>
            </a:r>
            <a:r>
              <a:rPr lang="en-US" sz="2000" b="1" dirty="0" smtClean="0">
                <a:solidFill>
                  <a:schemeClr val="accent1"/>
                </a:solidFill>
                <a:latin typeface="Cambria" panose="02040503050406030204" pitchFamily="18" charset="0"/>
                <a:ea typeface="Cambria" panose="02040503050406030204" pitchFamily="18" charset="0"/>
                <a:cs typeface="Verdana"/>
                <a:sym typeface="Verdana"/>
              </a:rPr>
              <a:t> </a:t>
            </a:r>
            <a:r>
              <a:rPr lang="en-US" sz="2000" b="1" dirty="0" err="1" smtClean="0">
                <a:solidFill>
                  <a:schemeClr val="accent1"/>
                </a:solidFill>
                <a:latin typeface="Cambria" panose="02040503050406030204" pitchFamily="18" charset="0"/>
                <a:ea typeface="Cambria" panose="02040503050406030204" pitchFamily="18" charset="0"/>
                <a:cs typeface="Verdana"/>
                <a:sym typeface="Verdana"/>
              </a:rPr>
              <a:t>Patil</a:t>
            </a: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CSE7000 - INTERNSHIP</a:t>
            </a:r>
            <a:r>
              <a:rPr lang="en-IN" dirty="0">
                <a:solidFill>
                  <a:srgbClr val="FF0000"/>
                </a:solidFill>
                <a:latin typeface="Times New Roman" panose="02020603050405020304" pitchFamily="18" charset="0"/>
                <a:cs typeface="Times New Roman" panose="02020603050405020304" pitchFamily="18" charset="0"/>
              </a:rPr>
              <a:t/>
            </a:r>
            <a:br>
              <a:rPr lang="en-IN" dirty="0">
                <a:solidFill>
                  <a:srgbClr val="FF0000"/>
                </a:solidFill>
                <a:latin typeface="Times New Roman" panose="02020603050405020304" pitchFamily="18" charset="0"/>
                <a:cs typeface="Times New Roman" panose="02020603050405020304" pitchFamily="18" charset="0"/>
              </a:rPr>
            </a:br>
            <a:r>
              <a:rPr lang="en-IN" dirty="0">
                <a:solidFill>
                  <a:srgbClr val="FF0000"/>
                </a:solidFill>
                <a:latin typeface="Times New Roman" panose="02020603050405020304" pitchFamily="18" charset="0"/>
                <a:cs typeface="Times New Roman" panose="02020603050405020304" pitchFamily="18" charset="0"/>
              </a:rPr>
              <a:t>A Presentation on</a:t>
            </a: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smtClean="0">
                <a:solidFill>
                  <a:srgbClr val="0070C0"/>
                </a:solidFill>
                <a:latin typeface="Times New Roman" panose="02020603050405020304" pitchFamily="18" charset="0"/>
                <a:ea typeface="Tahoma" pitchFamily="34" charset="0"/>
                <a:cs typeface="Times New Roman" panose="02020603050405020304" pitchFamily="18" charset="0"/>
              </a:rPr>
              <a:t>MACHINE LEARNING INTERNSHIP</a:t>
            </a: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799184503"/>
              </p:ext>
            </p:extLst>
          </p:nvPr>
        </p:nvGraphicFramePr>
        <p:xfrm>
          <a:off x="601909" y="1911875"/>
          <a:ext cx="4884491"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xmlns="" val="2689928737"/>
                    </a:ext>
                  </a:extLst>
                </a:gridCol>
                <a:gridCol w="3513221">
                  <a:extLst>
                    <a:ext uri="{9D8B030D-6E8A-4147-A177-3AD203B41FA5}">
                      <a16:colId xmlns:a16="http://schemas.microsoft.com/office/drawing/2014/main" xmlns=""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l"/>
                      <a:r>
                        <a:rPr lang="en-US" dirty="0" err="1" smtClean="0">
                          <a:latin typeface="Cambria" panose="02040503050406030204" pitchFamily="18" charset="0"/>
                          <a:ea typeface="Cambria" panose="02040503050406030204" pitchFamily="18" charset="0"/>
                          <a:cs typeface="Times New Roman" panose="02020603050405020304" pitchFamily="18" charset="0"/>
                        </a:rPr>
                        <a:t>Sanika</a:t>
                      </a:r>
                      <a:r>
                        <a:rPr lang="en-US" baseline="0" dirty="0" smtClean="0">
                          <a:latin typeface="Cambria" panose="02040503050406030204" pitchFamily="18" charset="0"/>
                          <a:ea typeface="Cambria" panose="02040503050406030204" pitchFamily="18" charset="0"/>
                          <a:cs typeface="Times New Roman" panose="02020603050405020304" pitchFamily="18" charset="0"/>
                        </a:rPr>
                        <a:t> H Y</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xmlns=""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l"/>
                      <a:r>
                        <a:rPr lang="en-US" dirty="0" smtClean="0">
                          <a:latin typeface="Cambria" panose="02040503050406030204" pitchFamily="18" charset="0"/>
                          <a:ea typeface="Cambria" panose="02040503050406030204" pitchFamily="18" charset="0"/>
                          <a:cs typeface="Times New Roman" panose="02020603050405020304" pitchFamily="18" charset="0"/>
                        </a:rPr>
                        <a:t>20241CSE0950</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xmlns=""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l"/>
                      <a:r>
                        <a:rPr lang="en-US" dirty="0" smtClean="0">
                          <a:latin typeface="Cambria" panose="02040503050406030204" pitchFamily="18" charset="0"/>
                          <a:ea typeface="Cambria" panose="02040503050406030204" pitchFamily="18" charset="0"/>
                          <a:cs typeface="Times New Roman" panose="02020603050405020304" pitchFamily="18" charset="0"/>
                        </a:rPr>
                        <a:t>5CSE14</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xmlns="" val="1278268189"/>
                  </a:ext>
                </a:extLst>
              </a:tr>
            </a:tbl>
          </a:graphicData>
        </a:graphic>
      </p:graphicFrame>
    </p:spTree>
    <p:extLst>
      <p:ext uri="{BB962C8B-B14F-4D97-AF65-F5344CB8AC3E}">
        <p14:creationId xmlns:p14="http://schemas.microsoft.com/office/powerpoint/2010/main" val="3090239800"/>
      </p:ext>
    </p:extLst>
  </p:cSld>
  <p:clrMapOvr>
    <a:masterClrMapping/>
  </p:clrMapOvr>
  <p:transition spd="slow">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78759" y="762138"/>
            <a:ext cx="10668000" cy="4271209"/>
          </a:xfrm>
          <a:prstGeom prst="rect">
            <a:avLst/>
          </a:prstGeom>
          <a:noFill/>
          <a:ln>
            <a:noFill/>
          </a:ln>
        </p:spPr>
        <p:txBody>
          <a:bodyPr spcFirstLastPara="1" wrap="square" lIns="91425" tIns="45700" rIns="91425" bIns="45700" anchor="t" anchorCtr="0">
            <a:noAutofit/>
          </a:bodyPr>
          <a:lstStyle/>
          <a:p>
            <a:pPr marL="495300" indent="-342900" algn="just">
              <a:lnSpc>
                <a:spcPct val="15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Methodology Used / Course Description</a:t>
            </a: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ea typeface="Cambria" panose="02040503050406030204" pitchFamily="18" charset="0"/>
                <a:cs typeface="Times New Roman" panose="02020603050405020304" pitchFamily="18" charset="0"/>
              </a:rPr>
              <a:t>Results </a:t>
            </a:r>
            <a:endParaRPr lang="en-IN" sz="2000" dirty="0">
              <a:latin typeface="Cambria" panose="02040503050406030204" pitchFamily="18" charset="0"/>
              <a:ea typeface="Cambria" panose="02040503050406030204" pitchFamily="18" charset="0"/>
            </a:endParaRPr>
          </a:p>
          <a:p>
            <a:pPr marL="495300" indent="-342900" algn="just">
              <a:lnSpc>
                <a:spcPct val="150000"/>
              </a:lnSpc>
              <a:spcBef>
                <a:spcPts val="0"/>
              </a:spcBef>
              <a:buFont typeface="Wingdings" panose="05000000000000000000" pitchFamily="2" charset="2"/>
              <a:buChar char="Ø"/>
            </a:pPr>
            <a:r>
              <a:rPr lang="en-IN" sz="2000" b="1" dirty="0">
                <a:solidFill>
                  <a:schemeClr val="accent1">
                    <a:lumMod val="75000"/>
                  </a:schemeClr>
                </a:solidFill>
                <a:latin typeface="Cambria" panose="02040503050406030204" pitchFamily="18" charset="0"/>
                <a:ea typeface="Cambria" panose="02040503050406030204" pitchFamily="18" charset="0"/>
                <a:cs typeface="Times New Roman" panose="02020603050405020304" pitchFamily="18" charset="0"/>
              </a:rPr>
              <a:t>Conclusion</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648573"/>
      </p:ext>
    </p:extLst>
  </p:cSld>
  <p:clrMapOvr>
    <a:masterClrMapping/>
  </p:clrMapOvr>
  <p:transition spd="slow">
    <p:blinds dir="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045031"/>
            <a:ext cx="10515600" cy="4193176"/>
          </a:xfrm>
        </p:spPr>
        <p:txBody>
          <a:bodyPr/>
          <a:lstStyle/>
          <a:p>
            <a:pPr>
              <a:buNone/>
            </a:pPr>
            <a:r>
              <a:rPr lang="en-US" b="1" dirty="0" err="1" smtClean="0"/>
              <a:t>InternSpark</a:t>
            </a:r>
            <a:r>
              <a:rPr lang="en-US" b="1" dirty="0" smtClean="0"/>
              <a:t>:</a:t>
            </a:r>
            <a:endParaRPr lang="en-US" dirty="0" smtClean="0"/>
          </a:p>
          <a:p>
            <a:r>
              <a:rPr lang="en-US" dirty="0" err="1" smtClean="0"/>
              <a:t>InternSpark</a:t>
            </a:r>
            <a:r>
              <a:rPr lang="en-US" dirty="0" smtClean="0"/>
              <a:t> is an online internship and training platform. </a:t>
            </a:r>
          </a:p>
          <a:p>
            <a:r>
              <a:rPr lang="en-US" dirty="0" smtClean="0"/>
              <a:t>It provides industry-oriented internships and live projects. </a:t>
            </a:r>
          </a:p>
          <a:p>
            <a:r>
              <a:rPr lang="en-US" dirty="0" smtClean="0"/>
              <a:t>The platform helps students develop practical technical skills. </a:t>
            </a:r>
          </a:p>
          <a:p>
            <a:r>
              <a:rPr lang="en-US" dirty="0" smtClean="0"/>
              <a:t>It aims to bridge the gap between academic learning and industry requirements. </a:t>
            </a:r>
          </a:p>
          <a:p>
            <a:pPr>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816428933"/>
      </p:ext>
    </p:extLst>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10515600" cy="5293361"/>
          </a:xfrm>
        </p:spPr>
        <p:txBody>
          <a:bodyPr/>
          <a:lstStyle/>
          <a:p>
            <a:pPr>
              <a:buNone/>
            </a:pPr>
            <a:r>
              <a:rPr lang="en-US" sz="2400" b="1" dirty="0" smtClean="0"/>
              <a:t>Products &amp; Services</a:t>
            </a:r>
            <a:endParaRPr lang="en-US" sz="2400" dirty="0" smtClean="0"/>
          </a:p>
          <a:p>
            <a:r>
              <a:rPr lang="en-US" sz="2400" dirty="0"/>
              <a:t>Developed basic Machine Learning prediction models. </a:t>
            </a:r>
          </a:p>
          <a:p>
            <a:r>
              <a:rPr lang="en-US" sz="2400" dirty="0"/>
              <a:t>Performed data cleaning and preprocessing. </a:t>
            </a:r>
          </a:p>
          <a:p>
            <a:r>
              <a:rPr lang="en-US" sz="2400" dirty="0"/>
              <a:t>Built </a:t>
            </a:r>
            <a:r>
              <a:rPr lang="en-US" sz="2400" b="1" dirty="0"/>
              <a:t>Iris Flower Classification</a:t>
            </a:r>
            <a:r>
              <a:rPr lang="en-US" sz="2400" dirty="0"/>
              <a:t> and </a:t>
            </a:r>
            <a:r>
              <a:rPr lang="en-US" sz="2400" b="1" dirty="0"/>
              <a:t>Titanic Survival Prediction</a:t>
            </a:r>
            <a:r>
              <a:rPr lang="en-US" sz="2400" dirty="0"/>
              <a:t> models. </a:t>
            </a:r>
          </a:p>
          <a:p>
            <a:r>
              <a:rPr lang="en-US" sz="2400" dirty="0"/>
              <a:t>Built a </a:t>
            </a:r>
            <a:r>
              <a:rPr lang="en-US" sz="2400" b="1" dirty="0"/>
              <a:t>House Price Prediction</a:t>
            </a:r>
            <a:r>
              <a:rPr lang="en-US" sz="2400" dirty="0"/>
              <a:t> model using Machine Learning. </a:t>
            </a:r>
          </a:p>
          <a:p>
            <a:pPr marL="0" indent="0">
              <a:buNone/>
            </a:pPr>
            <a:endParaRPr lang="en-US" sz="2400" b="1" dirty="0"/>
          </a:p>
          <a:p>
            <a:pPr>
              <a:buNone/>
            </a:pPr>
            <a:r>
              <a:rPr lang="en-US" sz="2400" b="1" dirty="0" smtClean="0"/>
              <a:t>Target Clients</a:t>
            </a:r>
            <a:endParaRPr lang="en-US" sz="2400" dirty="0" smtClean="0"/>
          </a:p>
          <a:p>
            <a:r>
              <a:rPr lang="en-US" sz="2400" dirty="0"/>
              <a:t>Students and educational institutions. </a:t>
            </a:r>
            <a:endParaRPr lang="en-US" sz="2400" dirty="0" smtClean="0"/>
          </a:p>
          <a:p>
            <a:r>
              <a:rPr lang="en-US" sz="2400" dirty="0" smtClean="0"/>
              <a:t>Startups </a:t>
            </a:r>
            <a:r>
              <a:rPr lang="en-US" sz="2400" dirty="0"/>
              <a:t>and small businesses. </a:t>
            </a:r>
            <a:endParaRPr lang="en-US" sz="2400" dirty="0" smtClean="0"/>
          </a:p>
          <a:p>
            <a:r>
              <a:rPr lang="en-US" sz="2400" dirty="0" smtClean="0"/>
              <a:t>Companies </a:t>
            </a:r>
            <a:r>
              <a:rPr lang="en-US" sz="2400" dirty="0"/>
              <a:t>interested in basic data analysis</a:t>
            </a:r>
            <a:r>
              <a:rPr lang="en-US" sz="2400" dirty="0" smtClean="0"/>
              <a:t>.</a:t>
            </a:r>
          </a:p>
          <a:p>
            <a:r>
              <a:rPr lang="en-US" sz="2400" dirty="0" smtClean="0"/>
              <a:t> </a:t>
            </a:r>
            <a:r>
              <a:rPr lang="en-US" sz="2400" dirty="0"/>
              <a:t>Organizations looking to explore Machine Learning solutions.</a:t>
            </a:r>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cSld>
  <p:clrMapOvr>
    <a:masterClrMapping/>
  </p:clrMapOvr>
  <p:transition spd="slow">
    <p:blinds dir="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056640"/>
            <a:ext cx="10515600" cy="4185921"/>
          </a:xfrm>
        </p:spPr>
        <p:txBody>
          <a:bodyPr/>
          <a:lstStyle/>
          <a:p>
            <a:pPr marL="0" indent="0">
              <a:buNone/>
            </a:pPr>
            <a:endParaRPr lang="en-US" sz="2000" dirty="0" smtClean="0"/>
          </a:p>
          <a:p>
            <a:pPr marL="0" indent="0">
              <a:buNone/>
            </a:pPr>
            <a:r>
              <a:rPr lang="en-US" sz="2000" dirty="0" smtClean="0"/>
              <a:t>• </a:t>
            </a:r>
            <a:r>
              <a:rPr lang="en-US" sz="2000" b="1" dirty="0"/>
              <a:t>Domain:</a:t>
            </a:r>
            <a:r>
              <a:rPr lang="en-US" sz="2000" dirty="0"/>
              <a:t> Machine Learning (ML)</a:t>
            </a:r>
          </a:p>
          <a:p>
            <a:pPr marL="0" indent="0">
              <a:buNone/>
            </a:pPr>
            <a:r>
              <a:rPr lang="en-US" sz="2000" dirty="0"/>
              <a:t>• </a:t>
            </a:r>
            <a:r>
              <a:rPr lang="en-US" sz="2000" b="1" dirty="0"/>
              <a:t>Overview:</a:t>
            </a:r>
            <a:r>
              <a:rPr lang="en-US" sz="2000" dirty="0"/>
              <a:t> Machine Learning is a technology that enables computers to learn from data and make predictions or decisions without being explicitly programmed.</a:t>
            </a:r>
          </a:p>
          <a:p>
            <a:pPr marL="0" indent="0">
              <a:buNone/>
            </a:pPr>
            <a:r>
              <a:rPr lang="en-US" sz="2000" dirty="0" smtClean="0"/>
              <a:t> </a:t>
            </a:r>
            <a:r>
              <a:rPr lang="en-US" sz="2000" b="1" dirty="0"/>
              <a:t>Features:</a:t>
            </a:r>
            <a:r>
              <a:rPr lang="en-US" sz="2000" dirty="0"/>
              <a:t/>
            </a:r>
            <a:br>
              <a:rPr lang="en-US" sz="2000" dirty="0"/>
            </a:br>
            <a:r>
              <a:rPr lang="en-US" sz="2000" dirty="0"/>
              <a:t>• Data preprocessing and analysis</a:t>
            </a:r>
            <a:br>
              <a:rPr lang="en-US" sz="2000" dirty="0"/>
            </a:br>
            <a:r>
              <a:rPr lang="en-US" sz="2000" dirty="0"/>
              <a:t>• Predictive </a:t>
            </a:r>
            <a:r>
              <a:rPr lang="en-US" sz="2000" dirty="0" err="1"/>
              <a:t>modelling</a:t>
            </a:r>
            <a:r>
              <a:rPr lang="en-US" sz="2000" dirty="0"/>
              <a:t/>
            </a:r>
            <a:br>
              <a:rPr lang="en-US" sz="2000" dirty="0"/>
            </a:br>
            <a:r>
              <a:rPr lang="en-US" sz="2000" dirty="0"/>
              <a:t>• Classification and regression</a:t>
            </a:r>
          </a:p>
          <a:p>
            <a:pPr marL="0" indent="0">
              <a:buNone/>
            </a:pPr>
            <a:r>
              <a:rPr lang="en-US" sz="2000" dirty="0"/>
              <a:t> </a:t>
            </a:r>
            <a:r>
              <a:rPr lang="en-US" sz="2000" dirty="0" smtClean="0"/>
              <a:t> </a:t>
            </a:r>
            <a:r>
              <a:rPr lang="en-US" sz="2000" b="1" dirty="0" smtClean="0"/>
              <a:t>Importance</a:t>
            </a:r>
            <a:r>
              <a:rPr lang="en-US" sz="2000" b="1" dirty="0"/>
              <a:t>:</a:t>
            </a:r>
            <a:r>
              <a:rPr lang="en-US" sz="2000" dirty="0"/>
              <a:t/>
            </a:r>
            <a:br>
              <a:rPr lang="en-US" sz="2000" dirty="0"/>
            </a:br>
            <a:r>
              <a:rPr lang="en-US" sz="2000" dirty="0"/>
              <a:t>• Helps in making data-driven predictions</a:t>
            </a:r>
            <a:br>
              <a:rPr lang="en-US" sz="2000" dirty="0"/>
            </a:br>
            <a:r>
              <a:rPr lang="en-US" sz="2000" dirty="0"/>
              <a:t>• Improves efficiency and accuracy</a:t>
            </a:r>
            <a:br>
              <a:rPr lang="en-US" sz="2000" dirty="0"/>
            </a:br>
            <a:r>
              <a:rPr lang="en-US" sz="2000" dirty="0"/>
              <a:t>• Provides practical solutions to real-world </a:t>
            </a:r>
            <a:r>
              <a:rPr lang="en-US" sz="2000" dirty="0" smtClean="0"/>
              <a:t>problems</a:t>
            </a:r>
            <a:endParaRPr lang="en-US" sz="2000"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103887700"/>
      </p:ext>
    </p:extLst>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134" y="989391"/>
            <a:ext cx="5337282" cy="4664960"/>
          </a:xfrm>
        </p:spPr>
        <p:txBody>
          <a:bodyPr/>
          <a:lstStyle/>
          <a:p>
            <a:pPr marL="0" indent="0">
              <a:buNone/>
            </a:pPr>
            <a:r>
              <a:rPr lang="en-US" sz="1800" b="1" dirty="0" smtClean="0"/>
              <a:t>       </a:t>
            </a:r>
            <a:r>
              <a:rPr lang="en-US" sz="2400" b="1" dirty="0" smtClean="0"/>
              <a:t>Tools </a:t>
            </a:r>
            <a:r>
              <a:rPr lang="en-US" sz="2400" b="1" dirty="0"/>
              <a:t>&amp; Technologies Used</a:t>
            </a:r>
            <a:r>
              <a:rPr lang="en-US" sz="2400" b="1" dirty="0" smtClean="0"/>
              <a:t>:</a:t>
            </a:r>
          </a:p>
          <a:p>
            <a:pPr marL="0" indent="0">
              <a:buNone/>
            </a:pPr>
            <a:r>
              <a:rPr lang="en-US" sz="1800" dirty="0"/>
              <a:t/>
            </a:r>
            <a:br>
              <a:rPr lang="en-US" sz="1800" dirty="0"/>
            </a:br>
            <a:r>
              <a:rPr lang="en-US" sz="1800" dirty="0" smtClean="0"/>
              <a:t>        • </a:t>
            </a:r>
            <a:r>
              <a:rPr lang="en-US" sz="1800" dirty="0"/>
              <a:t>Python</a:t>
            </a:r>
            <a:br>
              <a:rPr lang="en-US" sz="1800" dirty="0"/>
            </a:br>
            <a:r>
              <a:rPr lang="en-US" sz="1800" dirty="0" smtClean="0"/>
              <a:t>        • </a:t>
            </a:r>
            <a:r>
              <a:rPr lang="en-US" sz="1800" dirty="0"/>
              <a:t>Pandas</a:t>
            </a:r>
            <a:br>
              <a:rPr lang="en-US" sz="1800" dirty="0"/>
            </a:br>
            <a:r>
              <a:rPr lang="en-US" sz="1800" dirty="0" smtClean="0"/>
              <a:t>        • </a:t>
            </a:r>
            <a:r>
              <a:rPr lang="en-US" sz="1800" dirty="0" err="1"/>
              <a:t>NumPy</a:t>
            </a:r>
            <a:r>
              <a:rPr lang="en-US" sz="1800" dirty="0"/>
              <a:t/>
            </a:r>
            <a:br>
              <a:rPr lang="en-US" sz="1800" dirty="0"/>
            </a:br>
            <a:r>
              <a:rPr lang="en-US" sz="1800" dirty="0" smtClean="0"/>
              <a:t>        • </a:t>
            </a:r>
            <a:r>
              <a:rPr lang="en-US" sz="1800" dirty="0" err="1"/>
              <a:t>Scikit</a:t>
            </a:r>
            <a:r>
              <a:rPr lang="en-US" sz="1800" dirty="0"/>
              <a:t>-learn</a:t>
            </a:r>
            <a:br>
              <a:rPr lang="en-US" sz="1800" dirty="0"/>
            </a:br>
            <a:r>
              <a:rPr lang="en-US" sz="1800" dirty="0" smtClean="0"/>
              <a:t>        • </a:t>
            </a:r>
            <a:r>
              <a:rPr lang="en-US" sz="1800" dirty="0" err="1"/>
              <a:t>Jupyter</a:t>
            </a:r>
            <a:r>
              <a:rPr lang="en-US" sz="1800" dirty="0"/>
              <a:t> Notebook</a:t>
            </a:r>
            <a:endParaRPr lang="en-US" sz="18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3798440382"/>
      </p:ext>
    </p:extLst>
  </p:cSld>
  <p:clrMapOvr>
    <a:masterClrMapping/>
  </p:clrMapOvr>
  <p:transition spd="slow">
    <p:blinds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pPr marL="0" indent="0">
              <a:buNone/>
            </a:pPr>
            <a:r>
              <a:rPr lang="en-US" sz="2400" b="1" dirty="0" smtClean="0"/>
              <a:t> Purpose</a:t>
            </a:r>
            <a:r>
              <a:rPr lang="en-US" sz="2400" b="1" dirty="0"/>
              <a:t>:</a:t>
            </a:r>
            <a:endParaRPr lang="en-US" sz="2400" dirty="0"/>
          </a:p>
          <a:p>
            <a:pPr marL="0" indent="0">
              <a:buNone/>
            </a:pPr>
            <a:r>
              <a:rPr lang="en-US" sz="2400" dirty="0"/>
              <a:t>• To develop basic Machine Learning models for prediction and analysis.</a:t>
            </a:r>
            <a:br>
              <a:rPr lang="en-US" sz="2400" dirty="0"/>
            </a:br>
            <a:r>
              <a:rPr lang="en-US" sz="2400" dirty="0"/>
              <a:t>• To gain practical knowledge of data preprocessing, model training, and evaluation.</a:t>
            </a:r>
          </a:p>
          <a:p>
            <a:pPr marL="0" indent="0">
              <a:buNone/>
            </a:pPr>
            <a:r>
              <a:rPr lang="en-US" sz="2400" b="1" dirty="0" smtClean="0"/>
              <a:t> Usage</a:t>
            </a:r>
            <a:r>
              <a:rPr lang="en-US" sz="2400" b="1" dirty="0"/>
              <a:t>:</a:t>
            </a:r>
            <a:endParaRPr lang="en-US" sz="2400" dirty="0"/>
          </a:p>
          <a:p>
            <a:pPr marL="0" indent="0">
              <a:buNone/>
            </a:pPr>
            <a:r>
              <a:rPr lang="en-US" sz="2400" dirty="0"/>
              <a:t>• Used to predict outcomes from given datasets.</a:t>
            </a:r>
            <a:br>
              <a:rPr lang="en-US" sz="2400" dirty="0"/>
            </a:br>
            <a:r>
              <a:rPr lang="en-US" sz="2400" dirty="0"/>
              <a:t>• Helps identify useful patterns and relationships in data.</a:t>
            </a:r>
            <a:br>
              <a:rPr lang="en-US" sz="2400" dirty="0"/>
            </a:br>
            <a:r>
              <a:rPr lang="en-US" sz="2400" dirty="0"/>
              <a:t>• Can be applied to solve various real-world prediction and classification problems.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3432951823"/>
      </p:ext>
    </p:extLst>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Methodology Used / Course Description </a:t>
            </a:r>
          </a:p>
        </p:txBody>
      </p:sp>
      <p:sp>
        <p:nvSpPr>
          <p:cNvPr id="3" name="Content Placeholder 2"/>
          <p:cNvSpPr>
            <a:spLocks noGrp="1"/>
          </p:cNvSpPr>
          <p:nvPr>
            <p:ph idx="1"/>
          </p:nvPr>
        </p:nvSpPr>
        <p:spPr>
          <a:xfrm>
            <a:off x="838200" y="1184367"/>
            <a:ext cx="10515600" cy="4058194"/>
          </a:xfrm>
        </p:spPr>
        <p:txBody>
          <a:bodyPr/>
          <a:lstStyle/>
          <a:p>
            <a:pPr marL="0" indent="0">
              <a:buNone/>
            </a:pPr>
            <a:r>
              <a:rPr lang="en-US" sz="2400" b="1" dirty="0" smtClean="0"/>
              <a:t>   Methodology</a:t>
            </a:r>
            <a:endParaRPr lang="en-US" sz="2400" dirty="0"/>
          </a:p>
          <a:p>
            <a:pPr marL="0" indent="0">
              <a:buNone/>
            </a:pPr>
            <a:r>
              <a:rPr lang="en-US" sz="2400" dirty="0" smtClean="0"/>
              <a:t>  • </a:t>
            </a:r>
            <a:r>
              <a:rPr lang="en-US" sz="2400" b="1" dirty="0"/>
              <a:t>Data Collection</a:t>
            </a:r>
            <a:r>
              <a:rPr lang="en-US" sz="2400" dirty="0"/>
              <a:t> – Collected and understood the datasets used for the ML projects.</a:t>
            </a:r>
            <a:br>
              <a:rPr lang="en-US" sz="2400" dirty="0"/>
            </a:br>
            <a:r>
              <a:rPr lang="en-US" sz="2400" dirty="0" smtClean="0"/>
              <a:t>  • </a:t>
            </a:r>
            <a:r>
              <a:rPr lang="en-US" sz="2400" b="1" dirty="0"/>
              <a:t>Data Preprocessing</a:t>
            </a:r>
            <a:r>
              <a:rPr lang="en-US" sz="2400" dirty="0"/>
              <a:t> – Cleaned the data and handled missing or unnecessary values.</a:t>
            </a:r>
            <a:br>
              <a:rPr lang="en-US" sz="2400" dirty="0"/>
            </a:br>
            <a:r>
              <a:rPr lang="en-US" sz="2400" dirty="0" smtClean="0"/>
              <a:t>  • </a:t>
            </a:r>
            <a:r>
              <a:rPr lang="en-US" sz="2400" b="1" dirty="0"/>
              <a:t>Exploratory Data Analysis (EDA)</a:t>
            </a:r>
            <a:r>
              <a:rPr lang="en-US" sz="2400" dirty="0"/>
              <a:t> – Analyzed the datasets to identify patterns and relationships.</a:t>
            </a:r>
            <a:br>
              <a:rPr lang="en-US" sz="2400" dirty="0"/>
            </a:br>
            <a:r>
              <a:rPr lang="en-US" sz="2400" dirty="0" smtClean="0"/>
              <a:t>  • </a:t>
            </a:r>
            <a:r>
              <a:rPr lang="en-US" sz="2400" b="1" dirty="0"/>
              <a:t>Feature Selection</a:t>
            </a:r>
            <a:r>
              <a:rPr lang="en-US" sz="2400" dirty="0"/>
              <a:t> – Selected relevant features required for model building.</a:t>
            </a:r>
            <a:br>
              <a:rPr lang="en-US" sz="2400" dirty="0"/>
            </a:br>
            <a:r>
              <a:rPr lang="en-US" sz="2400" dirty="0" smtClean="0"/>
              <a:t>  • </a:t>
            </a:r>
            <a:r>
              <a:rPr lang="en-US" sz="2400" b="1" dirty="0"/>
              <a:t>Model Training</a:t>
            </a:r>
            <a:r>
              <a:rPr lang="en-US" sz="2400" dirty="0"/>
              <a:t> – Trained suitable Machine Learning models using </a:t>
            </a:r>
            <a:r>
              <a:rPr lang="en-US" sz="2400" dirty="0" err="1"/>
              <a:t>Scikit</a:t>
            </a:r>
            <a:r>
              <a:rPr lang="en-US" sz="2400" dirty="0"/>
              <a:t>-learn.</a:t>
            </a:r>
            <a:br>
              <a:rPr lang="en-US" sz="2400" dirty="0"/>
            </a:br>
            <a:r>
              <a:rPr lang="en-US" sz="2400" dirty="0" smtClean="0"/>
              <a:t>  • </a:t>
            </a:r>
            <a:r>
              <a:rPr lang="en-US" sz="2400" b="1" dirty="0"/>
              <a:t>Model Evaluation</a:t>
            </a:r>
            <a:r>
              <a:rPr lang="en-US" sz="2400" dirty="0"/>
              <a:t> – Evaluated the models using appropriate performance metrics.</a:t>
            </a:r>
            <a:br>
              <a:rPr lang="en-US" sz="2400" dirty="0"/>
            </a:br>
            <a:r>
              <a:rPr lang="en-US" sz="2400" dirty="0" smtClean="0"/>
              <a:t>  • </a:t>
            </a:r>
            <a:r>
              <a:rPr lang="en-US" sz="2400" b="1" dirty="0"/>
              <a:t>Prediction &amp; Results</a:t>
            </a:r>
            <a:r>
              <a:rPr lang="en-US" sz="2400" dirty="0"/>
              <a:t> – Generated predictions and analyzed the final results.</a:t>
            </a:r>
          </a:p>
          <a:p>
            <a:pPr algn="just"/>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313958729"/>
      </p:ext>
    </p:extLst>
  </p:cSld>
  <p:clrMapOvr>
    <a:masterClrMapping/>
  </p:clrMapOvr>
  <p:transition spd="slow">
    <p:blinds dir="ver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t>Course Description</a:t>
            </a:r>
            <a:endParaRPr lang="en-US" sz="4000" b="1" dirty="0"/>
          </a:p>
        </p:txBody>
      </p:sp>
      <p:sp>
        <p:nvSpPr>
          <p:cNvPr id="3" name="Content Placeholder 2"/>
          <p:cNvSpPr>
            <a:spLocks noGrp="1"/>
          </p:cNvSpPr>
          <p:nvPr>
            <p:ph idx="1"/>
          </p:nvPr>
        </p:nvSpPr>
        <p:spPr>
          <a:xfrm>
            <a:off x="838200" y="1361440"/>
            <a:ext cx="10515600" cy="4815523"/>
          </a:xfrm>
        </p:spPr>
        <p:txBody>
          <a:bodyPr/>
          <a:lstStyle/>
          <a:p>
            <a:pPr marL="0" indent="0">
              <a:buNone/>
            </a:pPr>
            <a:endParaRPr lang="en-US" dirty="0"/>
          </a:p>
          <a:p>
            <a:pPr marL="0" indent="0">
              <a:buNone/>
            </a:pPr>
            <a:r>
              <a:rPr lang="en-US" dirty="0"/>
              <a:t>• Introduction to Machine Learning concepts and applications</a:t>
            </a:r>
            <a:br>
              <a:rPr lang="en-US" dirty="0"/>
            </a:br>
            <a:r>
              <a:rPr lang="en-US" dirty="0"/>
              <a:t>• Python programming for data analysis and ML</a:t>
            </a:r>
            <a:br>
              <a:rPr lang="en-US" dirty="0"/>
            </a:br>
            <a:r>
              <a:rPr lang="en-US" dirty="0"/>
              <a:t>• Data preprocessing, cleaning, and visualization</a:t>
            </a:r>
            <a:br>
              <a:rPr lang="en-US" dirty="0"/>
            </a:br>
            <a:r>
              <a:rPr lang="en-US" dirty="0"/>
              <a:t>• Supervised learning techniques for classification and regression</a:t>
            </a:r>
            <a:br>
              <a:rPr lang="en-US" dirty="0"/>
            </a:br>
            <a:r>
              <a:rPr lang="en-US" dirty="0"/>
              <a:t>• Machine Learning model development and testing</a:t>
            </a:r>
            <a:br>
              <a:rPr lang="en-US" dirty="0"/>
            </a:br>
            <a:r>
              <a:rPr lang="en-US" dirty="0"/>
              <a:t>• Model evaluation and interpretation of results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Results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buNone/>
            </a:pPr>
            <a:r>
              <a:rPr lang="en-US" dirty="0"/>
              <a:t>• Successfully completed the 2-month Machine Learning internship at </a:t>
            </a:r>
            <a:r>
              <a:rPr lang="en-US" dirty="0" err="1"/>
              <a:t>Internspark</a:t>
            </a:r>
            <a:r>
              <a:rPr lang="en-US" dirty="0"/>
              <a:t>.</a:t>
            </a:r>
            <a:br>
              <a:rPr lang="en-US" dirty="0"/>
            </a:br>
            <a:r>
              <a:rPr lang="en-US" dirty="0"/>
              <a:t>• Developed and tested Machine Learning models using real-world datasets.</a:t>
            </a:r>
            <a:br>
              <a:rPr lang="en-US" dirty="0"/>
            </a:br>
            <a:r>
              <a:rPr lang="en-US" dirty="0"/>
              <a:t>• Gained hands-on experience in data preprocessing, analysis, and model evaluation.</a:t>
            </a:r>
            <a:br>
              <a:rPr lang="en-US" dirty="0"/>
            </a:br>
            <a:r>
              <a:rPr lang="en-US" dirty="0"/>
              <a:t>• Improved Python programming, analytical thinking, and problem-solving skills.</a:t>
            </a:r>
            <a:br>
              <a:rPr lang="en-US" dirty="0"/>
            </a:br>
            <a:r>
              <a:rPr lang="en-US" dirty="0"/>
              <a:t>• Successfully completed projects on Iris Flower Classification, Titanic Survival Prediction, and House Price Prediction.</a:t>
            </a:r>
          </a:p>
        </p:txBody>
      </p:sp>
    </p:spTree>
    <p:extLst>
      <p:ext uri="{BB962C8B-B14F-4D97-AF65-F5344CB8AC3E}">
        <p14:creationId xmlns:p14="http://schemas.microsoft.com/office/powerpoint/2010/main" val="1163375810"/>
      </p:ext>
    </p:extLst>
  </p:cSld>
  <p:clrMapOvr>
    <a:masterClrMapping/>
  </p:clrMapOvr>
  <p:transition spd="slow">
    <p:blinds dir="vert"/>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22"/>
            <a:ext cx="10515600" cy="923730"/>
          </a:xfrm>
        </p:spPr>
        <p:txBody>
          <a:bodyPr/>
          <a:lstStyle/>
          <a:p>
            <a:r>
              <a:rPr lang="en-US" sz="3200" b="1" dirty="0" smtClean="0"/>
              <a:t>Results</a:t>
            </a:r>
            <a:endParaRPr lang="en-US" sz="3200" b="1" dirty="0"/>
          </a:p>
        </p:txBody>
      </p:sp>
      <p:sp>
        <p:nvSpPr>
          <p:cNvPr id="3" name="Content Placeholder 2"/>
          <p:cNvSpPr>
            <a:spLocks noGrp="1"/>
          </p:cNvSpPr>
          <p:nvPr>
            <p:ph idx="1"/>
          </p:nvPr>
        </p:nvSpPr>
        <p:spPr>
          <a:xfrm>
            <a:off x="699796" y="942392"/>
            <a:ext cx="10654004" cy="5234571"/>
          </a:xfrm>
        </p:spPr>
        <p:txBody>
          <a:bodyPr/>
          <a:lstStyle/>
          <a:p>
            <a:r>
              <a:rPr lang="en-IN" dirty="0"/>
              <a:t>Figure </a:t>
            </a:r>
            <a:r>
              <a:rPr lang="en-IN" dirty="0" smtClean="0"/>
              <a:t>1.1 </a:t>
            </a:r>
            <a:r>
              <a:rPr lang="en-IN" dirty="0"/>
              <a:t>shows the predicted survival outcomes obtained from the Titanic Survival Prediction project. The model analysed passenger information and predicted whether each passenger survived or did not survive. The figure provides a visual representation of the prediction results and demonstrates how the trained classification model was used to solve the survival prediction problem</a:t>
            </a:r>
            <a:r>
              <a:rPr lang="en-IN" dirty="0" smtClean="0"/>
              <a:t>.</a:t>
            </a:r>
          </a:p>
          <a:p>
            <a:endParaRPr lang="en-IN" dirty="0"/>
          </a:p>
          <a:p>
            <a:pPr marL="0" indent="0">
              <a:buNone/>
            </a:pPr>
            <a:r>
              <a:rPr lang="en-US" dirty="0" smtClean="0"/>
              <a:t>  </a:t>
            </a:r>
            <a:endParaRPr lang="en-US" dirty="0" smtClean="0"/>
          </a:p>
          <a:p>
            <a:endParaRPr lang="en-US" dirty="0" smtClean="0"/>
          </a:p>
          <a:p>
            <a:pPr marL="0" indent="0">
              <a:buNone/>
            </a:pPr>
            <a:r>
              <a:rPr lang="en-US" dirty="0" smtClean="0"/>
              <a:t>                                                             </a:t>
            </a:r>
            <a:endParaRPr lang="en-US" dirty="0" smtClean="0"/>
          </a:p>
          <a:p>
            <a:pPr marL="0" indent="0">
              <a:buNone/>
            </a:pPr>
            <a:r>
              <a:rPr lang="en-US" dirty="0"/>
              <a:t> </a:t>
            </a:r>
            <a:r>
              <a:rPr lang="en-US" dirty="0" smtClean="0"/>
              <a:t>     </a:t>
            </a:r>
            <a:r>
              <a:rPr lang="en-US" dirty="0" smtClean="0"/>
              <a:t>                                                                                       </a:t>
            </a:r>
            <a:r>
              <a:rPr lang="en-US" sz="1800" dirty="0" smtClean="0"/>
              <a:t>Fig 1.1 Titanic survival graph </a:t>
            </a:r>
            <a:endParaRPr lang="en-IN" sz="1800" dirty="0"/>
          </a:p>
          <a:p>
            <a:endParaRPr lang="en-US" dirty="0" smtClean="0"/>
          </a:p>
          <a:p>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3110" y="3079102"/>
            <a:ext cx="4124292" cy="2360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8693476"/>
      </p:ext>
    </p:extLst>
  </p:cSld>
  <p:clrMapOvr>
    <a:masterClrMapping/>
  </p:clrMapOvr>
  <p:transition spd="slow">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3771"/>
            <a:ext cx="10515600" cy="3554964"/>
          </a:xfrm>
        </p:spPr>
        <p:txBody>
          <a:bodyPr/>
          <a:lstStyle/>
          <a:p>
            <a:r>
              <a:rPr lang="en-US" dirty="0"/>
              <a:t>Figure </a:t>
            </a:r>
            <a:r>
              <a:rPr lang="en-US" dirty="0" smtClean="0"/>
              <a:t>1.2 </a:t>
            </a:r>
            <a:r>
              <a:rPr lang="en-US" dirty="0"/>
              <a:t>shows the predicted house prices obtained from the House Price Prediction project. The model used different property features to estimate the price of each house. The figure represents the output generated by the trained regression model and demonstrates how Machine Learning can be used to predict continuous numerical values such as house prices</a:t>
            </a:r>
          </a:p>
          <a:p>
            <a:endParaRPr lang="en-US" sz="1800" b="1" dirty="0" smtClean="0"/>
          </a:p>
          <a:p>
            <a:endParaRPr lang="en-US" sz="1800" b="1" dirty="0"/>
          </a:p>
          <a:p>
            <a:endParaRPr lang="en-US" sz="1800" b="1" dirty="0" smtClean="0"/>
          </a:p>
          <a:p>
            <a:endParaRPr lang="en-US" sz="1800" b="1" dirty="0"/>
          </a:p>
          <a:p>
            <a:endParaRPr lang="en-US" sz="1800" b="1" dirty="0" smtClean="0"/>
          </a:p>
          <a:p>
            <a:endParaRPr lang="en-US" sz="1800" b="1" dirty="0"/>
          </a:p>
          <a:p>
            <a:r>
              <a:rPr lang="en-US" sz="1800" b="1" dirty="0" smtClean="0"/>
              <a:t>                                                                                                                             Fig </a:t>
            </a:r>
            <a:r>
              <a:rPr lang="en-US" sz="1800" b="1" dirty="0"/>
              <a:t>1</a:t>
            </a:r>
            <a:r>
              <a:rPr lang="en-US" sz="1800" b="1" dirty="0" smtClean="0"/>
              <a:t>.2 </a:t>
            </a:r>
            <a:r>
              <a:rPr lang="en-US" sz="1800" b="1" dirty="0"/>
              <a:t>House Price Prediction</a:t>
            </a:r>
          </a:p>
          <a:p>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1609" y="2740675"/>
            <a:ext cx="4296993" cy="2409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1432153"/>
      </p:ext>
    </p:extLst>
  </p:cSld>
  <p:clrMapOvr>
    <a:masterClrMapping/>
  </p:clrMapOvr>
  <p:transition spd="slow">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91887"/>
            <a:ext cx="10515600" cy="2565918"/>
          </a:xfrm>
        </p:spPr>
        <p:txBody>
          <a:bodyPr/>
          <a:lstStyle/>
          <a:p>
            <a:r>
              <a:rPr lang="en-IN" dirty="0"/>
              <a:t>Figure </a:t>
            </a:r>
            <a:r>
              <a:rPr lang="en-IN" dirty="0" smtClean="0"/>
              <a:t>1.3 </a:t>
            </a:r>
            <a:r>
              <a:rPr lang="en-IN" dirty="0"/>
              <a:t>shows the classification results obtained from the Iris Flower Classification project. The model used sepal and petal measurements to identify the species of each iris flower. The figure represents the classification results and demonstrates how the trained model can distinguish between different flower species based on their features.</a:t>
            </a:r>
            <a:endParaRPr lang="en-US" dirty="0"/>
          </a:p>
          <a:p>
            <a:endParaRPr lang="en-US" dirty="0"/>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2817" y="2744367"/>
            <a:ext cx="7924896" cy="21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4195255" y="3244334"/>
            <a:ext cx="3801490" cy="2308324"/>
          </a:xfrm>
          <a:prstGeom prst="rect">
            <a:avLst/>
          </a:prstGeom>
        </p:spPr>
        <p:txBody>
          <a:bodyPr wrap="none">
            <a:spAutoFit/>
          </a:bodyPr>
          <a:lstStyle/>
          <a:p>
            <a:endParaRPr lang="en-US" b="1" dirty="0" smtClean="0"/>
          </a:p>
          <a:p>
            <a:endParaRPr lang="en-US" b="1" dirty="0"/>
          </a:p>
          <a:p>
            <a:endParaRPr lang="en-US" b="1" dirty="0" smtClean="0"/>
          </a:p>
          <a:p>
            <a:endParaRPr lang="en-US" b="1" dirty="0"/>
          </a:p>
          <a:p>
            <a:endParaRPr lang="en-US" b="1" dirty="0" smtClean="0"/>
          </a:p>
          <a:p>
            <a:endParaRPr lang="en-US" b="1" dirty="0"/>
          </a:p>
          <a:p>
            <a:r>
              <a:rPr lang="en-US" b="1" dirty="0" smtClean="0"/>
              <a:t> </a:t>
            </a:r>
            <a:r>
              <a:rPr lang="en-US" b="1" dirty="0"/>
              <a:t>Fig </a:t>
            </a:r>
            <a:r>
              <a:rPr lang="en-US" b="1" dirty="0" smtClean="0"/>
              <a:t>1.3 </a:t>
            </a:r>
            <a:r>
              <a:rPr lang="en-US" b="1" dirty="0"/>
              <a:t>Iris flower classification graph </a:t>
            </a:r>
            <a:endParaRPr lang="en-US" b="1" dirty="0" smtClean="0"/>
          </a:p>
          <a:p>
            <a:endParaRPr lang="en-US" dirty="0"/>
          </a:p>
        </p:txBody>
      </p:sp>
    </p:spTree>
    <p:extLst>
      <p:ext uri="{BB962C8B-B14F-4D97-AF65-F5344CB8AC3E}">
        <p14:creationId xmlns:p14="http://schemas.microsoft.com/office/powerpoint/2010/main" val="3661400661"/>
      </p:ext>
    </p:extLst>
  </p:cSld>
  <p:clrMapOvr>
    <a:masterClrMapping/>
  </p:clrMapOvr>
  <p:transition spd="slow">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Conclusion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3" name="Content Placeholder 2"/>
          <p:cNvSpPr>
            <a:spLocks noGrp="1"/>
          </p:cNvSpPr>
          <p:nvPr>
            <p:ph idx="1"/>
          </p:nvPr>
        </p:nvSpPr>
        <p:spPr>
          <a:xfrm>
            <a:off x="446308" y="1061297"/>
            <a:ext cx="10515600" cy="4351338"/>
          </a:xfrm>
        </p:spPr>
        <p:txBody>
          <a:bodyPr/>
          <a:lstStyle/>
          <a:p>
            <a:pPr marL="0" indent="0">
              <a:buNone/>
            </a:pPr>
            <a:endParaRPr lang="en-US" dirty="0"/>
          </a:p>
          <a:p>
            <a:pPr marL="0" indent="0">
              <a:buNone/>
            </a:pPr>
            <a:r>
              <a:rPr lang="en-US" dirty="0"/>
              <a:t>• Successfully completed the Machine Learning internship.</a:t>
            </a:r>
            <a:br>
              <a:rPr lang="en-US" dirty="0"/>
            </a:br>
            <a:r>
              <a:rPr lang="en-US" dirty="0"/>
              <a:t>• Gained practical knowledge of ML and Python.</a:t>
            </a:r>
            <a:br>
              <a:rPr lang="en-US" dirty="0"/>
            </a:br>
            <a:r>
              <a:rPr lang="en-US" dirty="0"/>
              <a:t>• Improved data analysis and model-building skills.</a:t>
            </a:r>
            <a:br>
              <a:rPr lang="en-US" dirty="0"/>
            </a:br>
            <a:r>
              <a:rPr lang="en-US" dirty="0"/>
              <a:t>• Enhanced problem-solving and technical skills.</a:t>
            </a:r>
            <a:br>
              <a:rPr lang="en-US" dirty="0"/>
            </a:br>
            <a:r>
              <a:rPr lang="en-US" dirty="0"/>
              <a:t>• Completed three ML projects successfully.</a:t>
            </a:r>
            <a:br>
              <a:rPr lang="en-US" dirty="0"/>
            </a:br>
            <a:r>
              <a:rPr lang="en-US" dirty="0"/>
              <a:t>• Prepared for future projects and career opportunities.</a:t>
            </a:r>
          </a:p>
        </p:txBody>
      </p:sp>
    </p:spTree>
    <p:extLst>
      <p:ext uri="{BB962C8B-B14F-4D97-AF65-F5344CB8AC3E}">
        <p14:creationId xmlns:p14="http://schemas.microsoft.com/office/powerpoint/2010/main" val="3437392139"/>
      </p:ext>
    </p:extLst>
  </p:cSld>
  <p:clrMapOvr>
    <a:masterClrMapping/>
  </p:clrMapOvr>
  <p:transition spd="slow">
    <p:blinds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15</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975439"/>
      </p:ext>
    </p:extLst>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Tree>
    <p:extLst>
      <p:ext uri="{BB962C8B-B14F-4D97-AF65-F5344CB8AC3E}">
        <p14:creationId xmlns:p14="http://schemas.microsoft.com/office/powerpoint/2010/main" val="3426329908"/>
      </p:ext>
    </p:extLst>
  </p:cSld>
  <p:clrMapOvr>
    <a:masterClrMapping/>
  </p:clrMapOvr>
  <p:transition spd="slow">
    <p:blinds dir="vert"/>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8801</TotalTime>
  <Words>529</Words>
  <Application>Microsoft Office PowerPoint</Application>
  <PresentationFormat>Custom</PresentationFormat>
  <Paragraphs>106</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Content</vt:lpstr>
      <vt:lpstr>About Company or Organization</vt:lpstr>
      <vt:lpstr>PowerPoint Presentation</vt:lpstr>
      <vt:lpstr>Working domain or the technology</vt:lpstr>
      <vt:lpstr>PowerPoint Presentation</vt:lpstr>
      <vt:lpstr>Objectives of the work</vt:lpstr>
      <vt:lpstr>Methodology Used / Course Description </vt:lpstr>
      <vt:lpstr>Course Description</vt:lpstr>
      <vt:lpstr>Results </vt:lpstr>
      <vt:lpstr>Results</vt:lpstr>
      <vt:lpstr>PowerPoint Presentation</vt:lpstr>
      <vt:lpstr>PowerPoint Presentation</vt:lpstr>
      <vt:lpstr>Conclusion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Preeteesh</dc:creator>
  <cp:lastModifiedBy>Testing</cp:lastModifiedBy>
  <cp:revision>961</cp:revision>
  <cp:lastPrinted>2018-07-24T06:37:20Z</cp:lastPrinted>
  <dcterms:created xsi:type="dcterms:W3CDTF">2018-06-07T04:06:17Z</dcterms:created>
  <dcterms:modified xsi:type="dcterms:W3CDTF">2026-08-19T13:33:25Z</dcterms:modified>
</cp:coreProperties>
</file>